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259" r:id="rId3"/>
    <p:sldId id="260" r:id="rId4"/>
    <p:sldId id="266" r:id="rId5"/>
    <p:sldId id="261" r:id="rId6"/>
    <p:sldId id="267" r:id="rId7"/>
    <p:sldId id="270" r:id="rId8"/>
    <p:sldId id="273" r:id="rId9"/>
    <p:sldId id="274" r:id="rId10"/>
    <p:sldId id="275" r:id="rId11"/>
    <p:sldId id="276" r:id="rId12"/>
    <p:sldId id="277" r:id="rId13"/>
    <p:sldId id="278" r:id="rId14"/>
    <p:sldId id="27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5" autoAdjust="0"/>
    <p:restoredTop sz="78693" autoAdjust="0"/>
  </p:normalViewPr>
  <p:slideViewPr>
    <p:cSldViewPr snapToGrid="0" snapToObjects="1" showGuides="1">
      <p:cViewPr>
        <p:scale>
          <a:sx n="66" d="100"/>
          <a:sy n="66" d="100"/>
        </p:scale>
        <p:origin x="1166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 Regular"/>
              </a:defRPr>
            </a:lvl1pPr>
          </a:lstStyle>
          <a:p>
            <a:fld id="{0239D73C-AF14-7643-8BC7-209F4FB10DDF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 Regular"/>
              </a:defRPr>
            </a:lvl1pPr>
          </a:lstStyle>
          <a:p>
            <a:fld id="{F52A25F9-16D3-E64A-8639-7B020C319E7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973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057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634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118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8" name="Picture 7" descr="University at Buffalo, The State University of New York logo">
            <a:extLst>
              <a:ext uri="{FF2B5EF4-FFF2-40B4-BE49-F238E27FC236}">
                <a16:creationId xmlns:a16="http://schemas.microsoft.com/office/drawing/2014/main" id="{9C7DE7FF-FD86-434E-91D5-DF1AA23EE75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6041226"/>
            <a:ext cx="4800600" cy="35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41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663"/>
            <a:ext cx="6638544" cy="2387600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0" indent="0" algn="l">
              <a:buNone/>
              <a:defRPr sz="2800" b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 descr="University at Buffalo, The State University of New York logo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321146"/>
            <a:ext cx="4800600" cy="35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521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695147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420E5-CF10-E744-8836-DA131F3DFE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402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695147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51F46-BA21-2546-AE85-93B56EC061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19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Doub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52B2E-D090-724F-8681-FBE0CDA2F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59530-982F-0F4F-B296-9DB2F44D80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928" y="2185416"/>
            <a:ext cx="4500372" cy="39486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367C6-4AC8-9C47-BDFA-A5613CF90E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0200" y="2185416"/>
            <a:ext cx="4498848" cy="395020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A3F1F-FF47-0844-82BA-F475FCD0AA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462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5C5C1-32E2-374C-809B-D54BEC11E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</p:spPr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8817A-73B4-F340-8D0E-FB813E55F79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6928" y="2185416"/>
            <a:ext cx="5138928" cy="393192"/>
          </a:xfrm>
        </p:spPr>
        <p:txBody>
          <a:bodyPr anchor="t" anchorCtr="0">
            <a:spAutoFit/>
          </a:bodyPr>
          <a:lstStyle>
            <a:lvl1pPr marL="0" indent="0">
              <a:buNone/>
              <a:defRPr sz="16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26641-0094-3D49-865E-3DB9ECAC4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2593340"/>
            <a:ext cx="5140515" cy="3535744"/>
          </a:xfrm>
        </p:spPr>
        <p:txBody>
          <a:bodyPr/>
          <a:lstStyle>
            <a:lvl1pPr marL="285750" indent="-285750"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11705-25F9-194A-9D2F-C9FEEA3A574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2185416"/>
            <a:ext cx="5138928" cy="394980"/>
          </a:xfrm>
        </p:spPr>
        <p:txBody>
          <a:bodyPr anchor="t" anchorCtr="0">
            <a:spAutoFit/>
          </a:bodyPr>
          <a:lstStyle>
            <a:lvl1pPr marL="0" indent="0">
              <a:buNone/>
              <a:defRPr sz="16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978716-6004-6344-B5D2-C780B062C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90800"/>
            <a:ext cx="5138928" cy="3538728"/>
          </a:xfrm>
        </p:spPr>
        <p:txBody>
          <a:bodyPr/>
          <a:lstStyle>
            <a:lvl1pPr marL="285750" indent="-285750"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A91F9-8796-3D42-B75E-9C7F7D9B73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44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A2439-3BDA-DB47-AA02-5590274D4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A2EBF7-C6C5-4541-B47E-7FB413A3DF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253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13847-6053-FF4A-A422-D886A866F5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0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DC6EF38F-8DF7-3941-B22C-502232E4CB0B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098566" y="927100"/>
            <a:ext cx="7093434" cy="5930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C17C1-D75E-7F4A-895D-15D9E2D1D38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16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hree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CAA554F-B37C-9E47-B5E4-82235D4EC6C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114631" y="934720"/>
            <a:ext cx="7077369" cy="306467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F5FDDA2-E7AF-294B-ACDF-BDB5997277BC}"/>
              </a:ext>
            </a:extLst>
          </p:cNvPr>
          <p:cNvSpPr>
            <a:spLocks noGrp="1" noChangeAspect="1"/>
          </p:cNvSpPr>
          <p:nvPr>
            <p:ph type="pic" idx="14"/>
          </p:nvPr>
        </p:nvSpPr>
        <p:spPr>
          <a:xfrm>
            <a:off x="5114631" y="3998296"/>
            <a:ext cx="360252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F2499D1A-BF4E-8444-BF94-86863CA11648}"/>
              </a:ext>
            </a:extLst>
          </p:cNvPr>
          <p:cNvSpPr>
            <a:spLocks noGrp="1" noChangeAspect="1"/>
          </p:cNvSpPr>
          <p:nvPr>
            <p:ph type="pic" idx="15"/>
          </p:nvPr>
        </p:nvSpPr>
        <p:spPr>
          <a:xfrm>
            <a:off x="8701089" y="3998296"/>
            <a:ext cx="349091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F90DAFF-101D-E948-A7EE-D57686CEB2D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851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947F2-B572-1341-97A2-03F799FC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21EA68-2B0A-7648-9710-0081FFDD7D68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927100"/>
            <a:ext cx="12192000" cy="5930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C2F5B-0BEC-1B48-AF19-F70CBF88DDD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458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hart Placeholder 2">
            <a:extLst>
              <a:ext uri="{FF2B5EF4-FFF2-40B4-BE49-F238E27FC236}">
                <a16:creationId xmlns:a16="http://schemas.microsoft.com/office/drawing/2014/main" id="{7B782143-2792-E14B-AE51-0FFA9028EB8A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5161935" y="1976285"/>
            <a:ext cx="6325152" cy="396731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none"/>
        </p:style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en-US" dirty="0"/>
          </a:p>
          <a:p>
            <a:r>
              <a:rPr lang="en-US" dirty="0"/>
              <a:t>Drag chart to placeholder or click icon to add chart</a:t>
            </a:r>
          </a:p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FBFC18-7AE9-1C44-9039-61F804A6140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49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1614BA-85C5-BA49-A402-F7BCCCDB2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66ADF-AEA5-DC4B-841D-168372B89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928" y="2185416"/>
            <a:ext cx="10515600" cy="39682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University at Buffalo, The State University of New York logo">
            <a:extLst>
              <a:ext uri="{FF2B5EF4-FFF2-40B4-BE49-F238E27FC236}">
                <a16:creationId xmlns:a16="http://schemas.microsoft.com/office/drawing/2014/main" id="{27B0F206-4721-B742-B71F-C0AADA23A984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321146"/>
            <a:ext cx="4800600" cy="356029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4790E-48FE-324B-A4AD-34E3A7792E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971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50" r:id="rId3"/>
    <p:sldLayoutId id="2147483664" r:id="rId4"/>
    <p:sldLayoutId id="2147483652" r:id="rId5"/>
    <p:sldLayoutId id="2147483653" r:id="rId6"/>
    <p:sldLayoutId id="2147483654" r:id="rId7"/>
    <p:sldLayoutId id="2147483655" r:id="rId8"/>
    <p:sldLayoutId id="2147483665" r:id="rId9"/>
    <p:sldLayoutId id="2147483666" r:id="rId10"/>
    <p:sldLayoutId id="2147483660" r:id="rId11"/>
    <p:sldLayoutId id="2147483667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tx2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esentation Title">
            <a:extLst>
              <a:ext uri="{FF2B5EF4-FFF2-40B4-BE49-F238E27FC236}">
                <a16:creationId xmlns:a16="http://schemas.microsoft.com/office/drawing/2014/main" id="{1089AC9A-5D7D-5A4C-8605-7607252D4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459" y="624731"/>
            <a:ext cx="6498922" cy="4445617"/>
          </a:xfrm>
        </p:spPr>
        <p:txBody>
          <a:bodyPr/>
          <a:lstStyle/>
          <a:p>
            <a:r>
              <a:rPr lang="en-IN" sz="4800" dirty="0"/>
              <a:t>HEALTH AI: AI-BASED MEDICAL REPORT ANALYSIS AND HEALTH INFORMATION SYSTEM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7CE931-39E1-850E-41A2-9B323EFA2783}"/>
              </a:ext>
            </a:extLst>
          </p:cNvPr>
          <p:cNvSpPr/>
          <p:nvPr/>
        </p:nvSpPr>
        <p:spPr>
          <a:xfrm>
            <a:off x="7355840" y="619760"/>
            <a:ext cx="4836160" cy="6238240"/>
          </a:xfrm>
          <a:prstGeom prst="rect">
            <a:avLst/>
          </a:prstGeom>
          <a:solidFill>
            <a:schemeClr val="accent1"/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 descr="Knowledge Institute of Technology – Salem Tamilnadu">
            <a:extLst>
              <a:ext uri="{FF2B5EF4-FFF2-40B4-BE49-F238E27FC236}">
                <a16:creationId xmlns:a16="http://schemas.microsoft.com/office/drawing/2014/main" id="{738880D4-E34B-E552-59E7-F03949CCE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780" y="1590390"/>
            <a:ext cx="3479958" cy="3479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F1A4ABE-3FDA-6EFC-91AC-72D2BF3BD196}"/>
              </a:ext>
            </a:extLst>
          </p:cNvPr>
          <p:cNvSpPr/>
          <p:nvPr/>
        </p:nvSpPr>
        <p:spPr>
          <a:xfrm>
            <a:off x="0" y="5924991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407818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">
            <a:extLst>
              <a:ext uri="{FF2B5EF4-FFF2-40B4-BE49-F238E27FC236}">
                <a16:creationId xmlns:a16="http://schemas.microsoft.com/office/drawing/2014/main" id="{4603F0F3-CF76-774D-86D8-DB88B36252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2E1B3BED-EDDA-2E42-813F-F157009AF3C2}" type="slidenum">
              <a:rPr lang="en-US" smtClean="0"/>
              <a:t>2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D6A913C-1F80-C2E7-2C11-FAC7D7E5E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961304"/>
            <a:ext cx="10799411" cy="586840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2000" b="1" dirty="0"/>
              <a:t>Objective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To develop an AI-assisted web application that helps users understand medical reports through OCR-based text extraction, AI-based explanation, medical image observation, and multilingual health chatbot interaction.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Solution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Developed using </a:t>
            </a:r>
            <a:r>
              <a:rPr lang="en-IN" sz="2000" b="1" dirty="0"/>
              <a:t>React.js, Node.js/Express.js, Firebase Authentication, Tesseract.js OCR, and the Groq AI API</a:t>
            </a:r>
            <a:r>
              <a:rPr lang="en-IN" sz="2000" dirty="0"/>
              <a:t> to extract, analyse, and explain medical report information, observe medical images and X-rays, and provide chatbot interaction in English and Tamil.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Impact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Improves accessibility and understanding of medical information, reduces manual searching of medical terms, supports English and Tamil users, and provides report history with downloadable PDF results.</a:t>
            </a:r>
          </a:p>
          <a:p>
            <a:pPr lvl="0">
              <a:lnSpc>
                <a:spcPct val="100000"/>
              </a:lnSpc>
            </a:pPr>
            <a:r>
              <a:rPr lang="en-IN" sz="2000" dirty="0"/>
              <a:t>Marks unclear OCR values and image findings for verification instead of guessing.</a:t>
            </a:r>
          </a:p>
          <a:p>
            <a:pPr lvl="0">
              <a:lnSpc>
                <a:spcPct val="100000"/>
              </a:lnSpc>
            </a:pPr>
            <a:r>
              <a:rPr lang="en-IN" sz="2000" dirty="0"/>
              <a:t>Provides an information-assistance platform that does not replace professional medical diagnosis.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0A6794-0D44-2C2B-8DDD-F20A931F4B30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11" name="Picture 2" descr="Knowledge Institute of Technology – Salem Tamilnadu">
            <a:extLst>
              <a:ext uri="{FF2B5EF4-FFF2-40B4-BE49-F238E27FC236}">
                <a16:creationId xmlns:a16="http://schemas.microsoft.com/office/drawing/2014/main" id="{109FAC87-EA26-5E89-32E8-FD96E222C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6806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93BEC0A6-A5CE-914E-9A9E-BB0E40137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907" y="920913"/>
            <a:ext cx="10515600" cy="625183"/>
          </a:xfrm>
        </p:spPr>
        <p:txBody>
          <a:bodyPr/>
          <a:lstStyle/>
          <a:p>
            <a:r>
              <a:rPr lang="en-US" dirty="0"/>
              <a:t>Engineering Design Process</a:t>
            </a:r>
          </a:p>
        </p:txBody>
      </p:sp>
      <p:sp>
        <p:nvSpPr>
          <p:cNvPr id="3" name="Side Text - Column 1">
            <a:extLst>
              <a:ext uri="{FF2B5EF4-FFF2-40B4-BE49-F238E27FC236}">
                <a16:creationId xmlns:a16="http://schemas.microsoft.com/office/drawing/2014/main" id="{38025F87-E395-E545-BB3A-BF62703CCB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6906" y="1570892"/>
            <a:ext cx="11528617" cy="474888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2000" b="1" dirty="0"/>
              <a:t>Requirement &amp; Planning</a:t>
            </a:r>
            <a:br>
              <a:rPr lang="en-IN" sz="2000" dirty="0"/>
            </a:br>
            <a:r>
              <a:rPr lang="en-IN" sz="2000" dirty="0"/>
              <a:t>Identified medical report accessibility needs and user requirements.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System Design</a:t>
            </a:r>
            <a:br>
              <a:rPr lang="en-IN" sz="2000" dirty="0"/>
            </a:br>
            <a:r>
              <a:rPr lang="en-IN" sz="2000" dirty="0"/>
              <a:t>Designed OCR, AI analysis, chatbot, and multilingual modules.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System Development</a:t>
            </a:r>
            <a:br>
              <a:rPr lang="en-IN" sz="2000" dirty="0"/>
            </a:br>
            <a:r>
              <a:rPr lang="en-IN" sz="2000" dirty="0"/>
              <a:t>Developed report upload, OCR extraction, and AI-based analysis features.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System Integration</a:t>
            </a:r>
            <a:br>
              <a:rPr lang="en-IN" sz="2000" dirty="0"/>
            </a:br>
            <a:r>
              <a:rPr lang="en-IN" sz="2000" dirty="0"/>
              <a:t>Integrated Firebase Authentication, Tesseract.js OCR, and the Groq AI API.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Testing &amp; Validation</a:t>
            </a:r>
            <a:br>
              <a:rPr lang="en-IN" sz="2000" dirty="0"/>
            </a:br>
            <a:r>
              <a:rPr lang="en-IN" sz="2000" dirty="0"/>
              <a:t>Tested OCR accuracy, AI analysis, chatbot responses, and multilingual output.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Documentation</a:t>
            </a:r>
            <a:br>
              <a:rPr lang="en-IN" sz="2000" dirty="0"/>
            </a:br>
            <a:r>
              <a:rPr lang="en-IN" sz="2000" dirty="0"/>
              <a:t>Prepared system workflow, report, and presentation.</a:t>
            </a:r>
          </a:p>
          <a:p>
            <a:pPr>
              <a:lnSpc>
                <a:spcPct val="100000"/>
              </a:lnSpc>
            </a:pPr>
            <a:endParaRPr lang="en-IN" sz="2000" dirty="0"/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A6790C53-F8BB-DF4A-8361-919F8B7F69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7FF4D5E0-956F-9742-9135-6CCBA6AE77D9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2C6FD2-673C-D83E-C716-1C989A6761E8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6" name="Picture 2" descr="Knowledge Institute of Technology – Salem Tamilnadu">
            <a:extLst>
              <a:ext uri="{FF2B5EF4-FFF2-40B4-BE49-F238E27FC236}">
                <a16:creationId xmlns:a16="http://schemas.microsoft.com/office/drawing/2014/main" id="{15E68AEA-E1B7-F441-CC54-52CAA052A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396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88DBE833-A922-5747-A36B-4314D3116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948466"/>
            <a:ext cx="6951472" cy="590931"/>
          </a:xfrm>
        </p:spPr>
        <p:txBody>
          <a:bodyPr/>
          <a:lstStyle/>
          <a:p>
            <a:r>
              <a:rPr lang="en-US" dirty="0"/>
              <a:t>Process Table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1E758566-FAE7-1B41-AABE-FDB3CDFB0B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FF97EF4A-40C6-024D-A945-B03D1BBD02F7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AA5F49-DDB8-A757-9699-BF1EF25BB02F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7" name="Picture 2" descr="Knowledge Institute of Technology – Salem Tamilnadu">
            <a:extLst>
              <a:ext uri="{FF2B5EF4-FFF2-40B4-BE49-F238E27FC236}">
                <a16:creationId xmlns:a16="http://schemas.microsoft.com/office/drawing/2014/main" id="{A354C783-D22D-33EA-3878-74D4D2294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EDDB6BDD-B31C-396B-AD95-8825FC7998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054812"/>
              </p:ext>
            </p:extLst>
          </p:nvPr>
        </p:nvGraphicFramePr>
        <p:xfrm>
          <a:off x="304800" y="1663869"/>
          <a:ext cx="11223322" cy="502103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621167055"/>
                    </a:ext>
                  </a:extLst>
                </a:gridCol>
                <a:gridCol w="3141784">
                  <a:extLst>
                    <a:ext uri="{9D8B030D-6E8A-4147-A177-3AD203B41FA5}">
                      <a16:colId xmlns:a16="http://schemas.microsoft.com/office/drawing/2014/main" val="2429629913"/>
                    </a:ext>
                  </a:extLst>
                </a:gridCol>
                <a:gridCol w="5947938">
                  <a:extLst>
                    <a:ext uri="{9D8B030D-6E8A-4147-A177-3AD203B41FA5}">
                      <a16:colId xmlns:a16="http://schemas.microsoft.com/office/drawing/2014/main" val="436471904"/>
                    </a:ext>
                  </a:extLst>
                </a:gridCol>
              </a:tblGrid>
              <a:tr h="413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Phase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Engineering Steps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Key Activities &amp; Outcome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1933588"/>
                  </a:ext>
                </a:extLst>
              </a:tr>
              <a:tr h="1448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Definition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Requirement Analysis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Concept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Identify medical report accessibility needs.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Design Health AI system concept.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0675275"/>
                  </a:ext>
                </a:extLst>
              </a:tr>
              <a:tr h="1616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System Design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Module Development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Design OCR &amp; AI analysis modules.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Develop upload, OCR &amp; AI modules. 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Integrate frontend, backend &amp; AI services.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6009640"/>
                  </a:ext>
                </a:extLst>
              </a:tr>
              <a:tr h="1542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Prototype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Testing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Build system prototype.</a:t>
                      </a:r>
                    </a:p>
                    <a:p>
                      <a:pPr>
                        <a:buNone/>
                      </a:pP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/>
                        <a:t>Test OCR &amp; AI accuracy.</a:t>
                      </a:r>
                    </a:p>
                    <a:p>
                      <a:pPr>
                        <a:buNone/>
                      </a:pP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/>
                        <a:t>Verify system accuracy.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0436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7677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Title">
            <a:extLst>
              <a:ext uri="{FF2B5EF4-FFF2-40B4-BE49-F238E27FC236}">
                <a16:creationId xmlns:a16="http://schemas.microsoft.com/office/drawing/2014/main" id="{A5A6BD9C-352C-594C-84C3-B534C6BE8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936508"/>
            <a:ext cx="10515600" cy="669553"/>
          </a:xfrm>
        </p:spPr>
        <p:txBody>
          <a:bodyPr/>
          <a:lstStyle/>
          <a:p>
            <a:r>
              <a:rPr lang="en-US" dirty="0"/>
              <a:t>List of Activities</a:t>
            </a:r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692346D0-C19D-754C-B7FB-4EEAD59AF4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574280" y="6137211"/>
            <a:ext cx="4114800" cy="365125"/>
          </a:xfrm>
        </p:spPr>
        <p:txBody>
          <a:bodyPr/>
          <a:lstStyle/>
          <a:p>
            <a:fld id="{11612D8C-0CE2-8F48-B865-A1C7EEB20945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1D069B-0F58-C58D-35EC-4C6DB3F00376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3" name="Picture 2" descr="Knowledge Institute of Technology – Salem Tamilnadu">
            <a:extLst>
              <a:ext uri="{FF2B5EF4-FFF2-40B4-BE49-F238E27FC236}">
                <a16:creationId xmlns:a16="http://schemas.microsoft.com/office/drawing/2014/main" id="{CE1C2C29-CE5B-056E-24FC-D9D195ED3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D36BFF-0743-C505-AFF7-931347247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768" y="1621657"/>
            <a:ext cx="11172952" cy="488067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2000" b="1" dirty="0"/>
              <a:t>Literature Survey</a:t>
            </a:r>
            <a:br>
              <a:rPr lang="en-IN" sz="2000" dirty="0"/>
            </a:br>
            <a:r>
              <a:rPr lang="en-IN" sz="2000" dirty="0"/>
              <a:t>Studied AI-based healthcare systems, OCR document processing, and multilingual healthcare applications.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 Requirement Analysis</a:t>
            </a:r>
            <a:br>
              <a:rPr lang="en-IN" sz="2000" dirty="0"/>
            </a:br>
            <a:r>
              <a:rPr lang="en-IN" sz="2000" dirty="0"/>
              <a:t>Identified user requirements, report types, languages, and system features.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Report Upload &amp; OCR Extraction</a:t>
            </a:r>
            <a:br>
              <a:rPr lang="en-IN" sz="2000" dirty="0"/>
            </a:br>
            <a:r>
              <a:rPr lang="en-IN" sz="2000" dirty="0"/>
              <a:t>Developed image/PDF upload and Tesseract.js-based text extraction from medical reports.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AI Report Analysis</a:t>
            </a:r>
            <a:br>
              <a:rPr lang="en-IN" sz="2000" dirty="0"/>
            </a:br>
            <a:r>
              <a:rPr lang="en-IN" sz="2000" dirty="0"/>
              <a:t>Implemented AI-based explanation of medical report values using the Groq API.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Chatbot &amp; Image Observation</a:t>
            </a:r>
            <a:br>
              <a:rPr lang="en-IN" sz="2000" dirty="0"/>
            </a:br>
            <a:r>
              <a:rPr lang="en-IN" sz="2000" dirty="0"/>
              <a:t>Developed the health chatbot and medical image/X-ray observation features.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System Integration</a:t>
            </a:r>
            <a:br>
              <a:rPr lang="en-IN" sz="2000" dirty="0"/>
            </a:br>
            <a:r>
              <a:rPr lang="en-IN" sz="2000" dirty="0"/>
              <a:t>Integrated multilingual support, report history, and PDF generation modules.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Testing &amp; Validation</a:t>
            </a:r>
          </a:p>
          <a:p>
            <a:r>
              <a:rPr lang="en-IN" sz="2000" dirty="0"/>
              <a:t>Tested OCR accuracy, AI responses, chatbot, and multilingual output.</a:t>
            </a:r>
          </a:p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82579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Title">
            <a:extLst>
              <a:ext uri="{FF2B5EF4-FFF2-40B4-BE49-F238E27FC236}">
                <a16:creationId xmlns:a16="http://schemas.microsoft.com/office/drawing/2014/main" id="{3AC14BE6-0C46-714B-B7A3-48A9E49B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7" y="1123116"/>
            <a:ext cx="6701973" cy="622569"/>
          </a:xfrm>
        </p:spPr>
        <p:txBody>
          <a:bodyPr/>
          <a:lstStyle/>
          <a:p>
            <a:r>
              <a:rPr lang="en-US" dirty="0"/>
              <a:t>Activity Duration Table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774AD43-9463-CEF5-FDB4-742E929F80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3306804"/>
              </p:ext>
            </p:extLst>
          </p:nvPr>
        </p:nvGraphicFramePr>
        <p:xfrm>
          <a:off x="705822" y="1923092"/>
          <a:ext cx="9352577" cy="40916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8200">
                  <a:extLst>
                    <a:ext uri="{9D8B030D-6E8A-4147-A177-3AD203B41FA5}">
                      <a16:colId xmlns:a16="http://schemas.microsoft.com/office/drawing/2014/main" val="1229741313"/>
                    </a:ext>
                  </a:extLst>
                </a:gridCol>
                <a:gridCol w="5292743">
                  <a:extLst>
                    <a:ext uri="{9D8B030D-6E8A-4147-A177-3AD203B41FA5}">
                      <a16:colId xmlns:a16="http://schemas.microsoft.com/office/drawing/2014/main" val="1239087719"/>
                    </a:ext>
                  </a:extLst>
                </a:gridCol>
                <a:gridCol w="3281634">
                  <a:extLst>
                    <a:ext uri="{9D8B030D-6E8A-4147-A177-3AD203B41FA5}">
                      <a16:colId xmlns:a16="http://schemas.microsoft.com/office/drawing/2014/main" val="4199366196"/>
                    </a:ext>
                  </a:extLst>
                </a:gridCol>
              </a:tblGrid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Activity Description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Duration (Hours)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95223"/>
                  </a:ext>
                </a:extLst>
              </a:tr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 Requirement Engineering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25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2619731"/>
                  </a:ext>
                </a:extLst>
              </a:tr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Concept &amp; UI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30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6574819"/>
                  </a:ext>
                </a:extLst>
              </a:tr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OCR &amp; Report Upload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45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403924"/>
                  </a:ext>
                </a:extLst>
              </a:tr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AI Report Analysis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50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8532157"/>
                  </a:ext>
                </a:extLst>
              </a:tr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Chatbot &amp; Image Observation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8141785"/>
                  </a:ext>
                </a:extLst>
              </a:tr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Multilingual &amp; PDF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35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5019158"/>
                  </a:ext>
                </a:extLst>
              </a:tr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Testing &amp; 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8512038"/>
                  </a:ext>
                </a:extLst>
              </a:tr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Total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250 Hours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658041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2435FF2-28C8-2D2D-BDEB-0C5DCD1A98EC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6" name="Picture 2" descr="Knowledge Institute of Technology – Salem Tamilnadu">
            <a:extLst>
              <a:ext uri="{FF2B5EF4-FFF2-40B4-BE49-F238E27FC236}">
                <a16:creationId xmlns:a16="http://schemas.microsoft.com/office/drawing/2014/main" id="{26419DA3-9A42-55A5-4228-4E21C30A8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1732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185F3C10-40FA-5845-8029-D5490ECDA88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7</a:t>
            </a:fld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B7CF859-D7B2-C75E-7BF1-EBC4C51A9D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1702461"/>
              </p:ext>
            </p:extLst>
          </p:nvPr>
        </p:nvGraphicFramePr>
        <p:xfrm>
          <a:off x="1011366" y="1832220"/>
          <a:ext cx="7799132" cy="454139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74980">
                  <a:extLst>
                    <a:ext uri="{9D8B030D-6E8A-4147-A177-3AD203B41FA5}">
                      <a16:colId xmlns:a16="http://schemas.microsoft.com/office/drawing/2014/main" val="2880506019"/>
                    </a:ext>
                  </a:extLst>
                </a:gridCol>
                <a:gridCol w="3662076">
                  <a:extLst>
                    <a:ext uri="{9D8B030D-6E8A-4147-A177-3AD203B41FA5}">
                      <a16:colId xmlns:a16="http://schemas.microsoft.com/office/drawing/2014/main" val="1750860139"/>
                    </a:ext>
                  </a:extLst>
                </a:gridCol>
                <a:gridCol w="3662076">
                  <a:extLst>
                    <a:ext uri="{9D8B030D-6E8A-4147-A177-3AD203B41FA5}">
                      <a16:colId xmlns:a16="http://schemas.microsoft.com/office/drawing/2014/main" val="2929902668"/>
                    </a:ext>
                  </a:extLst>
                </a:gridCol>
              </a:tblGrid>
              <a:tr h="3748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Activity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Predecessor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8347262"/>
                  </a:ext>
                </a:extLst>
              </a:tr>
              <a:tr h="5946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Requirement  Engineering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2258472"/>
                  </a:ext>
                </a:extLst>
              </a:tr>
              <a:tr h="5407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Concept &amp; UI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985896"/>
                  </a:ext>
                </a:extLst>
              </a:tr>
              <a:tr h="6560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OCR &amp; Report Upload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5430523"/>
                  </a:ext>
                </a:extLst>
              </a:tr>
              <a:tr h="6560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AI Report Analysis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606828"/>
                  </a:ext>
                </a:extLst>
              </a:tr>
              <a:tr h="5375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Chatbot &amp; Image Observation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8238758"/>
                  </a:ext>
                </a:extLst>
              </a:tr>
              <a:tr h="5612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Multilingual &amp; PDF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3411533"/>
                  </a:ext>
                </a:extLst>
              </a:tr>
              <a:tr h="6200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Testing &amp; 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F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7587456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F450BACB-BAD2-B811-AEB3-0D7478CF0CFD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245FC4DD-935D-244C-F1FD-8A9F36222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7F1A5EB-5483-8BBB-1ED9-5B087FDDE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7" y="1229152"/>
            <a:ext cx="6794571" cy="574263"/>
          </a:xfrm>
        </p:spPr>
        <p:txBody>
          <a:bodyPr/>
          <a:lstStyle/>
          <a:p>
            <a:r>
              <a:rPr lang="en-IN" dirty="0"/>
              <a:t>Activity Precedence Table</a:t>
            </a:r>
          </a:p>
        </p:txBody>
      </p:sp>
    </p:spTree>
    <p:extLst>
      <p:ext uri="{BB962C8B-B14F-4D97-AF65-F5344CB8AC3E}">
        <p14:creationId xmlns:p14="http://schemas.microsoft.com/office/powerpoint/2010/main" val="2921135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74204B13-12CE-5849-82EE-2A784C3AC2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8" name="Title 57">
            <a:extLst>
              <a:ext uri="{FF2B5EF4-FFF2-40B4-BE49-F238E27FC236}">
                <a16:creationId xmlns:a16="http://schemas.microsoft.com/office/drawing/2014/main" id="{3A9EFF2A-3D5F-B622-E440-9E0445FE1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47" y="961304"/>
            <a:ext cx="6951472" cy="558629"/>
          </a:xfrm>
        </p:spPr>
        <p:txBody>
          <a:bodyPr/>
          <a:lstStyle/>
          <a:p>
            <a:r>
              <a:rPr lang="en-IN" dirty="0"/>
              <a:t>Glossary: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DB0BD1B-638F-3CA9-D944-D5AA0B38D913}"/>
              </a:ext>
            </a:extLst>
          </p:cNvPr>
          <p:cNvSpPr/>
          <p:nvPr/>
        </p:nvSpPr>
        <p:spPr>
          <a:xfrm>
            <a:off x="162047" y="-12097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60" name="Picture 2" descr="Knowledge Institute of Technology – Salem Tamilnadu">
            <a:extLst>
              <a:ext uri="{FF2B5EF4-FFF2-40B4-BE49-F238E27FC236}">
                <a16:creationId xmlns:a16="http://schemas.microsoft.com/office/drawing/2014/main" id="{3843E347-A6B6-62FF-37CF-F04424D6C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95DA92-F948-A6F7-CB8A-8C0CCFDC5A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2047" y="1418508"/>
            <a:ext cx="11273740" cy="5863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IN" sz="2000" b="1" dirty="0"/>
              <a:t>OCR – Optical Character Recognition:</a:t>
            </a:r>
            <a:br>
              <a:rPr lang="en-IN" sz="2000" dirty="0"/>
            </a:br>
            <a:r>
              <a:rPr lang="en-IN" sz="2000" dirty="0"/>
              <a:t>Technology used to extract text from image-based medical reports.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AI – Artificial Intelligence:</a:t>
            </a:r>
            <a:br>
              <a:rPr lang="en-IN" sz="2000" dirty="0"/>
            </a:br>
            <a:r>
              <a:rPr lang="en-IN" sz="2000" dirty="0"/>
              <a:t>Used to analyse extracted report information and generate simple explanations.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LLM – Large Language Model:</a:t>
            </a:r>
            <a:br>
              <a:rPr lang="en-IN" sz="2000" dirty="0"/>
            </a:br>
            <a:r>
              <a:rPr lang="en-IN" sz="2000" dirty="0"/>
              <a:t>AI model used to generate natural-language explanations of medical information.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Firebase Authentication:</a:t>
            </a:r>
            <a:br>
              <a:rPr lang="en-IN" sz="2000" dirty="0"/>
            </a:br>
            <a:r>
              <a:rPr lang="en-IN" sz="2000" dirty="0"/>
              <a:t>Service used for secure user login and identity management.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Tesseract.js:</a:t>
            </a:r>
            <a:br>
              <a:rPr lang="en-IN" sz="2000" dirty="0"/>
            </a:br>
            <a:r>
              <a:rPr lang="en-IN" sz="2000" dirty="0"/>
              <a:t>JavaScript-based OCR library used for text extraction from images.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Groq AI:</a:t>
            </a:r>
            <a:br>
              <a:rPr lang="en-IN" sz="2000" dirty="0"/>
            </a:br>
            <a:r>
              <a:rPr lang="en-IN" sz="2000" dirty="0"/>
              <a:t>AI API service used for report analysis and chatbot responses.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Health AI Chatbot:</a:t>
            </a:r>
            <a:br>
              <a:rPr lang="en-IN" sz="2000" dirty="0"/>
            </a:br>
            <a:r>
              <a:rPr lang="en-IN" sz="2000" dirty="0"/>
              <a:t>Conversational interface providing general health information to users.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Multilingual Support:</a:t>
            </a:r>
            <a:br>
              <a:rPr lang="en-IN" sz="2000" dirty="0"/>
            </a:br>
            <a:r>
              <a:rPr lang="en-IN" sz="2000" dirty="0"/>
              <a:t>Feature enabling report analysis and chat output in English and Tamil.</a:t>
            </a:r>
            <a:br>
              <a:rPr lang="en-IN" sz="2000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8288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79EA7-98F6-6B2B-D294-AF99CB493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38533669-9E2E-BCA1-4AC3-2F61F885F7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9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9EAD4E-4CBA-3CFB-BDAF-B4DEAA604ED3}"/>
              </a:ext>
            </a:extLst>
          </p:cNvPr>
          <p:cNvSpPr/>
          <p:nvPr/>
        </p:nvSpPr>
        <p:spPr>
          <a:xfrm>
            <a:off x="0" y="-87438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ADC90A71-DE45-773A-657E-79A894C65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A1CCCC5-39BE-33E1-78FE-261157664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7" y="836137"/>
            <a:ext cx="7765543" cy="668204"/>
          </a:xfrm>
        </p:spPr>
        <p:txBody>
          <a:bodyPr/>
          <a:lstStyle/>
          <a:p>
            <a:r>
              <a:rPr lang="en-IN" dirty="0"/>
              <a:t>Core</a:t>
            </a:r>
            <a:r>
              <a:rPr lang="en-IN" b="1" dirty="0"/>
              <a:t> </a:t>
            </a:r>
            <a:r>
              <a:rPr lang="en-IN" dirty="0"/>
              <a:t>Technologies</a:t>
            </a:r>
            <a:r>
              <a:rPr lang="en-IN" b="1" dirty="0"/>
              <a:t> </a:t>
            </a:r>
            <a:r>
              <a:rPr lang="en-IN" dirty="0"/>
              <a:t>&amp; Principles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BCB7B48-4B54-1AA9-C2C4-414E23B311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852" y="1418328"/>
            <a:ext cx="12449150" cy="5709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IN" sz="2000" b="1" dirty="0"/>
              <a:t>React.js Frontend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Provides the user interface for report upload, results, chat, history, and profile pages.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Node.js &amp; Express.js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Backend runtime and framework that handles API requests and AI service communication.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Firebase Authentication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Provides secure Google-based sign-in and protected routes for users.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Tesseract.js (OCR)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Extracts text from image-based medical reports for further AI analysis.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Groq AI API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Performs AI-based report analysis, chatbot responses, and multilingual generation.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Image Preprocessing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Improves OCR accuracy through scaling, grayscale conversion, and contrast enhancement.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PDF Processing</a:t>
            </a:r>
          </a:p>
          <a:p>
            <a:pPr>
              <a:lnSpc>
                <a:spcPct val="100000"/>
              </a:lnSpc>
            </a:pPr>
            <a:r>
              <a:rPr lang="en-IN" sz="2000" dirty="0" err="1"/>
              <a:t>Supports</a:t>
            </a:r>
            <a:r>
              <a:rPr lang="en-IN" sz="2000" dirty="0"/>
              <a:t> PDF report input and downloadable PDF output for later reference.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276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927BB-7CFF-8D68-3D96-552C7AF6A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010332AB-4FEA-B0A0-1609-E0A59408925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10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8CD9C6-AE63-3585-1672-1EF8752C48EE}"/>
              </a:ext>
            </a:extLst>
          </p:cNvPr>
          <p:cNvSpPr/>
          <p:nvPr/>
        </p:nvSpPr>
        <p:spPr>
          <a:xfrm>
            <a:off x="0" y="42657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AA6C2931-DC1E-6305-AF2A-4E95B823B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E18C957-F7D2-2F8E-B1E8-92E1D87B0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33" y="879577"/>
            <a:ext cx="6794571" cy="590931"/>
          </a:xfrm>
        </p:spPr>
        <p:txBody>
          <a:bodyPr/>
          <a:lstStyle/>
          <a:p>
            <a:r>
              <a:rPr lang="en-IN" dirty="0"/>
              <a:t>Concept Rules &amp; Laws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B01320-DC36-76C7-1B69-C440727F53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3833" y="1303348"/>
            <a:ext cx="12386273" cy="5863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IN" sz="2000" b="1" dirty="0"/>
              <a:t>Data Extraction Principle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Every uploaded medical report is processed through OCR before AI analysis.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AI Explanation Principle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AI-generated explanations are based only on the information available in the extracted report.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Uncertainty Principle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Unclear OCR values or image findings are marked for verification rather than guessed.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Authentication Principle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Every user session is verified through Firebase Authentication before access is granted.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Multilingual Principle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Medical values, units, and reference ranges remain consistent across English and Tamil output.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History Principle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Every analysed report is stored for later retrieval and PDF download.</a:t>
            </a:r>
            <a:br>
              <a:rPr lang="en-IN" sz="2000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12214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729C4-38BF-184D-7672-1FD204282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D2C2B464-E3B2-8604-4847-B8653FF8C2D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11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23A500-B993-985A-34EC-928D6E1D4532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193B5C55-C4F9-BF6A-FB21-82CA108C3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A19A17C-EBB5-ECD6-B2A3-3BDDB7E43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456" y="1027113"/>
            <a:ext cx="6794571" cy="535531"/>
          </a:xfrm>
        </p:spPr>
        <p:txBody>
          <a:bodyPr/>
          <a:lstStyle/>
          <a:p>
            <a:r>
              <a:rPr lang="en-IN" sz="3200" dirty="0"/>
              <a:t>System Components &amp; Technologies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3EA0B42-90F2-63D3-B2BD-F61EE7251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706637"/>
              </p:ext>
            </p:extLst>
          </p:nvPr>
        </p:nvGraphicFramePr>
        <p:xfrm>
          <a:off x="1503680" y="1680808"/>
          <a:ext cx="8128000" cy="48612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43104985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146197498"/>
                    </a:ext>
                  </a:extLst>
                </a:gridCol>
              </a:tblGrid>
              <a:tr h="60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Component / Technology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Function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9694812"/>
                  </a:ext>
                </a:extLst>
              </a:tr>
              <a:tr h="60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React.js 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Provides pages for upload, results, chat, and history.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6994346"/>
                  </a:ext>
                </a:extLst>
              </a:tr>
              <a:tr h="60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Firebase Authentication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Manages secure user sign-in.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9528245"/>
                  </a:ext>
                </a:extLst>
              </a:tr>
              <a:tr h="60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Tesseract.js (OCR)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Extracts text from image-based reports.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3221157"/>
                  </a:ext>
                </a:extLst>
              </a:tr>
              <a:tr h="60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Node.js / Express.js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Handles backend API requests.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337397"/>
                  </a:ext>
                </a:extLst>
              </a:tr>
              <a:tr h="60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Groq AI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Performs report analysis and chatbot responses.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7714953"/>
                  </a:ext>
                </a:extLst>
              </a:tr>
              <a:tr h="60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React Markdown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Displays AI responses in a structured, readable format.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8026463"/>
                  </a:ext>
                </a:extLst>
              </a:tr>
              <a:tr h="60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PDF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Generates downloadable report output.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6238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9135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6E226-18E3-A918-1889-F64652F87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">
            <a:extLst>
              <a:ext uri="{FF2B5EF4-FFF2-40B4-BE49-F238E27FC236}">
                <a16:creationId xmlns:a16="http://schemas.microsoft.com/office/drawing/2014/main" id="{49277DEC-FD55-B750-99F6-ED4AF3D2B3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2E1B3BED-EDDA-2E42-813F-F157009AF3C2}" type="slidenum">
              <a:rPr lang="en-US" smtClean="0"/>
              <a:t>12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D44474-B6A9-2E80-CFB1-F6A61E5207D1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11" name="Picture 2" descr="Knowledge Institute of Technology – Salem Tamilnadu">
            <a:extLst>
              <a:ext uri="{FF2B5EF4-FFF2-40B4-BE49-F238E27FC236}">
                <a16:creationId xmlns:a16="http://schemas.microsoft.com/office/drawing/2014/main" id="{18AF6717-8050-162E-0152-455468FEF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11A54090-C1CD-E4C7-7C4F-120173108496}"/>
              </a:ext>
            </a:extLst>
          </p:cNvPr>
          <p:cNvSpPr txBox="1">
            <a:spLocks/>
          </p:cNvSpPr>
          <p:nvPr/>
        </p:nvSpPr>
        <p:spPr>
          <a:xfrm>
            <a:off x="566928" y="1325496"/>
            <a:ext cx="2993908" cy="480131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2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IN" sz="2800" dirty="0"/>
              <a:t>System Model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B6E72A-A7DC-667C-A622-2D338800D069}"/>
              </a:ext>
            </a:extLst>
          </p:cNvPr>
          <p:cNvSpPr txBox="1"/>
          <p:nvPr/>
        </p:nvSpPr>
        <p:spPr>
          <a:xfrm>
            <a:off x="2717157" y="1884674"/>
            <a:ext cx="610564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User (Login / Report Upload)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OCR (Tesseract.js)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Text Extraction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AI Analysis (Groq API)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Report Explanation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Result Display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Report History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PDF Download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User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0126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98611-98CE-DD98-71BF-373DCFBBA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DDF4BD0B-487E-0EFB-5090-B575D91BDFC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13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561CC2-FB8E-0F7F-5BAE-C16EDB634CB3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E072C555-A9B9-7CD0-7AB1-B90DD3991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BCBCE1D-4E99-C95A-9ABF-F1F85E081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031" y="1256756"/>
            <a:ext cx="6794571" cy="535531"/>
          </a:xfrm>
        </p:spPr>
        <p:txBody>
          <a:bodyPr/>
          <a:lstStyle/>
          <a:p>
            <a:r>
              <a:rPr lang="en-IN" sz="3200" dirty="0"/>
              <a:t>What-if-Analysis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B996379-8FB9-5975-4ED8-7840390D1D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105827"/>
              </p:ext>
            </p:extLst>
          </p:nvPr>
        </p:nvGraphicFramePr>
        <p:xfrm>
          <a:off x="1666330" y="1951235"/>
          <a:ext cx="6794570" cy="4507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7285">
                  <a:extLst>
                    <a:ext uri="{9D8B030D-6E8A-4147-A177-3AD203B41FA5}">
                      <a16:colId xmlns:a16="http://schemas.microsoft.com/office/drawing/2014/main" val="668908320"/>
                    </a:ext>
                  </a:extLst>
                </a:gridCol>
                <a:gridCol w="3397285">
                  <a:extLst>
                    <a:ext uri="{9D8B030D-6E8A-4147-A177-3AD203B41FA5}">
                      <a16:colId xmlns:a16="http://schemas.microsoft.com/office/drawing/2014/main" val="3583233430"/>
                    </a:ext>
                  </a:extLst>
                </a:gridCol>
              </a:tblGrid>
              <a:tr h="500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Scenario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System Response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1177192"/>
                  </a:ext>
                </a:extLst>
              </a:tr>
              <a:tr h="500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Unclear OCR 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Marks value for verification.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526614"/>
                  </a:ext>
                </a:extLst>
              </a:tr>
              <a:tr h="500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Low Image Quality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Shows uncertainty status.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3499557"/>
                  </a:ext>
                </a:extLst>
              </a:tr>
              <a:tr h="500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AI Service Unavailable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Shows error and retry option.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538197"/>
                  </a:ext>
                </a:extLst>
              </a:tr>
              <a:tr h="500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Unauthenticated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Redirects to login page.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0124719"/>
                  </a:ext>
                </a:extLst>
              </a:tr>
              <a:tr h="500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Chat Query Outside 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Gives general guidance only.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3461108"/>
                  </a:ext>
                </a:extLst>
              </a:tr>
              <a:tr h="500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Language Switch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Regenerates response in language.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71786"/>
                  </a:ext>
                </a:extLst>
              </a:tr>
              <a:tr h="500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Report History Overload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Shows paginated history list.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4981175"/>
                  </a:ext>
                </a:extLst>
              </a:tr>
              <a:tr h="500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Unsupported File 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Notifies unsupported report type.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1985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7231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FE9B-69E1-4412-FF35-31E959E92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43BAC711-C6DF-11B7-50F5-4B990156C5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14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5D4DAE-8546-EE14-0CA7-063A83072BDF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1C6E89FC-C84A-78AE-8431-8FF6AABDD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E2BD22C-CB15-9270-C611-98DDD9DCC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031" y="1066801"/>
            <a:ext cx="6794571" cy="440002"/>
          </a:xfrm>
        </p:spPr>
        <p:txBody>
          <a:bodyPr/>
          <a:lstStyle/>
          <a:p>
            <a:r>
              <a:rPr lang="en-IN" sz="3200" dirty="0"/>
              <a:t>Conclusion</a:t>
            </a:r>
            <a:endParaRPr lang="en-I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B97FB3-8490-1F45-E4D1-74AF76C62C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2921" y="1629913"/>
            <a:ext cx="10848102" cy="4682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IN" sz="2000" dirty="0"/>
              <a:t>Health AI improves the accessibility of medical report information by combining OCR-based text extraction with AI-based explanation for users.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By integrating OCR, AI-based analysis, chatbot interaction, medical image observation, and multilingual support, the system reduces manual searching and helps users understand medical information more easily. The </a:t>
            </a:r>
            <a:r>
              <a:rPr lang="en-IN" sz="2000" b="1" dirty="0"/>
              <a:t>Health AI system</a:t>
            </a:r>
            <a:r>
              <a:rPr lang="en-IN" sz="2000" dirty="0"/>
              <a:t> provides an integrated platform for medical report upload, OCR processing, AI-based analysis, image and X-ray observation, chatbot interaction, and downloadable report history.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By integrating </a:t>
            </a:r>
            <a:r>
              <a:rPr lang="en-IN" sz="2000" b="1" dirty="0"/>
              <a:t>React, Node.js/Express.js, Firebase Authentication, Tesseract.js OCR, and the Groq AI API</a:t>
            </a:r>
            <a:r>
              <a:rPr lang="en-IN" sz="2000" dirty="0"/>
              <a:t>, the proposed system helps users understand medical reports, ask general health questions, and access their report history and PDF downloads for future reference.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619635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B Brand Colors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005BBB"/>
      </a:hlink>
      <a:folHlink>
        <a:srgbClr val="D86A4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1025</TotalTime>
  <Words>1285</Words>
  <Application>Microsoft Office PowerPoint</Application>
  <PresentationFormat>Widescreen</PresentationFormat>
  <Paragraphs>220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Regular</vt:lpstr>
      <vt:lpstr>Georgia</vt:lpstr>
      <vt:lpstr>System Font Regular</vt:lpstr>
      <vt:lpstr>Times New Roman</vt:lpstr>
      <vt:lpstr>Office Theme</vt:lpstr>
      <vt:lpstr>HOSPITAL ASSET TRACKING AND SMART PATIENT FLOW MANAGEMENT SYSTEM</vt:lpstr>
      <vt:lpstr>PowerPoint Presentation</vt:lpstr>
      <vt:lpstr>Engineering Design Process</vt:lpstr>
      <vt:lpstr>Process Table</vt:lpstr>
      <vt:lpstr>List of Activities</vt:lpstr>
      <vt:lpstr>Activity Duration Table</vt:lpstr>
      <vt:lpstr>Activity Precedence Table</vt:lpstr>
      <vt:lpstr>Glossary:</vt:lpstr>
      <vt:lpstr>Core Technologies &amp; Principles </vt:lpstr>
      <vt:lpstr>Concept Rules &amp; Laws</vt:lpstr>
      <vt:lpstr>System Components &amp; Technologies</vt:lpstr>
      <vt:lpstr>PowerPoint Presentation</vt:lpstr>
      <vt:lpstr>What-if-Analysis</vt:lpstr>
      <vt:lpstr>Conclusion</vt:lpstr>
    </vt:vector>
  </TitlesOfParts>
  <Manager/>
  <Company>University at Buffalo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Presentation</dc:title>
  <dc:subject/>
  <dc:creator>Division of University Communications</dc:creator>
  <cp:keywords/>
  <dc:description/>
  <cp:lastModifiedBy>Sangeetha D</cp:lastModifiedBy>
  <cp:revision>86</cp:revision>
  <dcterms:created xsi:type="dcterms:W3CDTF">2019-04-04T19:20:28Z</dcterms:created>
  <dcterms:modified xsi:type="dcterms:W3CDTF">2026-09-02T16:52:12Z</dcterms:modified>
  <cp:category/>
</cp:coreProperties>
</file>